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orben"/>
      <p:regular r:id="rId201314"/>
    </p:embeddedFont>
    <p:embeddedFont>
      <p:font typeface="Corben Bold"/>
      <p:regular r:id="rId201315"/>
    </p:embeddedFont>
    <p:embeddedFont>
      <p:font typeface="Nobile"/>
      <p:regular r:id="rId201316"/>
    </p:embeddedFont>
    <p:embeddedFont>
      <p:font typeface="Nobile Medium"/>
      <p:regular r:id="rId201317"/>
    </p:embeddedFont>
    <p:embeddedFont>
      <p:font typeface="Nobil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Diabetes Risk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Using Patient Health Parameters and Machine Learning Techniques to enable early detection, personalized risk assessment, and data-driven clinical decision support.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433316"/>
            <a:ext cx="3686101" cy="215354"/>
          </a:xfrm>
          <a:prstGeom prst="roundRect">
            <a:avLst>
              <a:gd name="adj" fmla="val 22119"/>
            </a:avLst>
          </a:prstGeom>
          <a:solidFill>
            <a:srgbClr val="D2D9F9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475806"/>
            <a:ext cx="397319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MACHINE LEARNING · HEALTHCARE AI · PREVENTIVE MEDICINE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7944"/>
            <a:ext cx="4722763" cy="567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 Global Health Crisis Demands Smarter Solutions</a:t>
            </a: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3925119" y="1112639"/>
            <a:ext cx="4722763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Diabetes is one of the fastest-growing chronic diseases worldwide. Early detection is critical — yet millions remain undiagnosed until serious complications develop. Traditional methods are slow, costly, and reactive.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25119" y="1461715"/>
            <a:ext cx="4722763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537M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3925119" y="1850454"/>
            <a:ext cx="472276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Adults with Diabetes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2027262"/>
            <a:ext cx="47227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Global prevalence in 2023 (IDF Atlas)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925119" y="2308101"/>
            <a:ext cx="4722763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 in 2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3925119" y="2696840"/>
            <a:ext cx="472276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Undiagnosed Cases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925119" y="2873648"/>
            <a:ext cx="47227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Unaware of their condition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925119" y="3154487"/>
            <a:ext cx="4722763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$966B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3925119" y="3543226"/>
            <a:ext cx="472276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Annual Healthcare Cost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925119" y="3720033"/>
            <a:ext cx="47227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Global economic burden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25119" y="4000872"/>
            <a:ext cx="4722763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2045</a:t>
            </a:r>
            <a:endParaRPr lang="en-US" sz="2350" dirty="0"/>
          </a:p>
        </p:txBody>
      </p:sp>
      <p:sp>
        <p:nvSpPr>
          <p:cNvPr id="15" name="Text 12"/>
          <p:cNvSpPr/>
          <p:nvPr/>
        </p:nvSpPr>
        <p:spPr>
          <a:xfrm>
            <a:off x="3925119" y="4389611"/>
            <a:ext cx="472276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Projected 783M Cases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925119" y="4566419"/>
            <a:ext cx="47227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Estimated global prevalence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9708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Limits of Traditional Diagnosis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3403"/>
            <a:ext cx="5190753" cy="2919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9708" y="1195313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Current Methods Fall Short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9708" y="1505024"/>
            <a:ext cx="2652861" cy="1836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Late Detection: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Symptoms often appear only after organ damage has occurred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High Cost: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Lab tests and clinical visits create financial and access barriers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Reactive Approach: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Treatment begins after diagnosis, not before risk emerges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Limited Scalability:</a:t>
            </a:r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Manual processes cannot serve large at-risk populations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999708" y="3467919"/>
            <a:ext cx="2652861" cy="1029295"/>
          </a:xfrm>
          <a:prstGeom prst="roundRect">
            <a:avLst>
              <a:gd name="adj" fmla="val 5152"/>
            </a:avLst>
          </a:prstGeom>
          <a:solidFill>
            <a:srgbClr val="D2D9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914" y="3643833"/>
            <a:ext cx="157758" cy="1262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9879" y="3600673"/>
            <a:ext cx="211648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intelligent, ML-driven system can identify risk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before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symptoms appear — shifting healthcare from reactive to preventive.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93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ML-Powered Risk Prediction: The Core Approach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6585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system applies supervised classification algorithms to patient health data, generating a probabilistic diabetes risk score — enabling early, non-invasive screening at scale.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78955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33965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Glucose &amp; Insulin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46164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Fasting glucose and insulin levels are primary metabolic indicators of diabetes risk.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878955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33965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BMI &amp; Blood Pressure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646164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Obesity and hypertension are strongly correlated with Type 2 diabetes onset.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83310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844007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Age &amp; Family History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150519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Genetic predisposition and age significantly elevate individual risk profiles.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383310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844007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Lifestyle Factors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150519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Diet, physical activity, and smoking status refine prediction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742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End-to-End System Workflow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32855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prediction pipeline transforms raw patient inputs into actionable clinical risk assessments through a structured, nine-stage ML workflow.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87946"/>
            <a:ext cx="2717229" cy="442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6847" y="1717402"/>
            <a:ext cx="249577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Collection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06847" y="1942281"/>
            <a:ext cx="24957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health parameters captured via forms or EHR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187946"/>
            <a:ext cx="2717229" cy="4429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24076" y="1717402"/>
            <a:ext cx="249577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324076" y="1942281"/>
            <a:ext cx="24957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Cleaning, normalization, and missing value handling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187946"/>
            <a:ext cx="2717229" cy="4429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1306" y="1717402"/>
            <a:ext cx="249577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Feature Selection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041306" y="1942281"/>
            <a:ext cx="24957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Identifying the most predictive health variables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368525"/>
            <a:ext cx="2717229" cy="4429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6847" y="2897981"/>
            <a:ext cx="249577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06847" y="3122861"/>
            <a:ext cx="24957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Supervised learning on labeled historical patient data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348" y="2368525"/>
            <a:ext cx="2717229" cy="44298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24076" y="2897981"/>
            <a:ext cx="249577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3324076" y="3122861"/>
            <a:ext cx="24957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Cross-validation and performance benchmarking</a:t>
            </a:r>
            <a:endParaRPr lang="en-US" sz="8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0578" y="2368525"/>
            <a:ext cx="2717229" cy="44298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41306" y="2897981"/>
            <a:ext cx="249577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6041306" y="3122861"/>
            <a:ext cx="249577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Diabetes risk score generated for new patients</a:t>
            </a:r>
            <a:endParaRPr lang="en-US" sz="8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549104"/>
            <a:ext cx="2717229" cy="44298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06847" y="4078560"/>
            <a:ext cx="249577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Risk Assessment</a:t>
            </a:r>
            <a:endParaRPr lang="en-US" sz="1050" dirty="0"/>
          </a:p>
        </p:txBody>
      </p:sp>
      <p:sp>
        <p:nvSpPr>
          <p:cNvPr id="24" name="Text 15"/>
          <p:cNvSpPr/>
          <p:nvPr/>
        </p:nvSpPr>
        <p:spPr>
          <a:xfrm>
            <a:off x="606847" y="4303440"/>
            <a:ext cx="249577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Classification into Low, Medium, or High risk</a:t>
            </a:r>
            <a:endParaRPr lang="en-US" sz="8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3348" y="3549104"/>
            <a:ext cx="2717229" cy="442987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324076" y="4078560"/>
            <a:ext cx="249577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Report Generation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3324076" y="4303440"/>
            <a:ext cx="249577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clinical summary with findings</a:t>
            </a:r>
            <a:endParaRPr lang="en-US" sz="8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0578" y="3549104"/>
            <a:ext cx="2717229" cy="442987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041306" y="4078560"/>
            <a:ext cx="249577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0" name="Text 19"/>
          <p:cNvSpPr/>
          <p:nvPr/>
        </p:nvSpPr>
        <p:spPr>
          <a:xfrm>
            <a:off x="6041306" y="4303440"/>
            <a:ext cx="249577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dashboards for clinicians and patients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Architecture &amp; Technology Stack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5193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Technology Stack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03810"/>
            <a:ext cx="3986733" cy="597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Backend: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Python, Flask / FastAPI, Django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ML Libraries: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Scikit-learn, XGBoost, TensorFlow, Keras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Database: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PostgreSQL, MySQL, MongoDB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Frontend: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React.js, D3.js, Plotly Dash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Deployment: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Docker, Kubernetes, AWS / Azure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Security: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OAuth2, HIPAA-compliant encryption, RBAC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84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Performance &amp; Evaluation Metrics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5090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23319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What These Metrics Mean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596405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Accuracy (91%):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Overall correctness of predictions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Precision (89%):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Reliability of positive risk flags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Recall (93%):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Ability to detect true at-risk patients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F1-Score (91%):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Balanced measure of precision and recall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ROC-AUC (95%):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Strong discriminative power between classes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541812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D2D9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74734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704779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Recall is prioritized to minimize false negatives — missing an at-risk patient is the costliest error.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55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System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92039"/>
            <a:ext cx="4004965" cy="1067470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338560"/>
            <a:ext cx="3711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🔮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Risk Prediction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659359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ML-driven probability scores for diabetes onset based on multi-parameter health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192039"/>
            <a:ext cx="4005039" cy="1067470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1338560"/>
            <a:ext cx="371199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Health Analysis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1659359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patient profiling across metabolic, demographic, and lifestyle dimensions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401267"/>
            <a:ext cx="4004965" cy="1067470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2547789"/>
            <a:ext cx="3711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Automated Assessment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2868588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Instant Low / Medium / High risk classification with no manual interpretation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401267"/>
            <a:ext cx="4005039" cy="1067470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2547789"/>
            <a:ext cx="371199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Clinical Reports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2868588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Structured, shareable PDF reports with findings, risk factors, and recommendations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610496"/>
            <a:ext cx="4004965" cy="1067470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640" y="3757017"/>
            <a:ext cx="37119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🖥️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Visualization Dashboard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640" y="4077816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Interactive charts and trend views for clinicians and patient self-monitoring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2842" y="3610496"/>
            <a:ext cx="4005039" cy="1067470"/>
          </a:xfrm>
          <a:prstGeom prst="roundRect">
            <a:avLst>
              <a:gd name="adj" fmla="val 5578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9363" y="3757017"/>
            <a:ext cx="371199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🩺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Decision Support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89363" y="4077816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Actionable insights to guide healthcare professionals in diagnosis and care planning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43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Real-World Applications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8084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is designed for deployment across the full spectrum of healthcare delivery — from frontline clinics to national preventive health programs.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93937"/>
            <a:ext cx="1104900" cy="6828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953941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Hospitals &amp; Clinics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260452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into admission workflows for proactive screening of high-risk patients.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093937"/>
            <a:ext cx="1104900" cy="6828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78298" y="2953941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Telemedicine Platforms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78298" y="3481908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 remote risk assessment and follow-up care without in-person visits.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093937"/>
            <a:ext cx="1104900" cy="6828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0553" y="295394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Research Institutions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60553" y="3260452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Support population health studies and epidemiological diabetes research at scale.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093937"/>
            <a:ext cx="1104900" cy="6828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2807" y="295394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Preventive Programs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742807" y="3260452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 in community health initiatives to identify at-risk individuals early.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772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Scalability, Security &amp; The Road Ahead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023119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Future Enhancement 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293465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96119" y="1467371"/>
            <a:ext cx="3940820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551310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Wearable Integration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6119" y="1810792"/>
            <a:ext cx="394082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glucose and vitals from smartwatches and IoT health devices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6119" y="2138065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6119" y="2311971"/>
            <a:ext cx="3940820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2395910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EHR Interoperability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6119" y="2655391"/>
            <a:ext cx="394082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Seamless connection with Epic, Cerner, and HL7/FHIR-compliant systems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6119" y="2982664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6119" y="3156570"/>
            <a:ext cx="3940820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240509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Explainable AI (XAI)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119" y="3499991"/>
            <a:ext cx="394082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Transparent, interpretable predictions clinicians can trust and act upon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6119" y="3827264"/>
            <a:ext cx="22145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6119" y="4001170"/>
            <a:ext cx="3940820" cy="14288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4085109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Personalized Recommendations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6119" y="4344591"/>
            <a:ext cx="394082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Tailored lifestyle and treatment guidance based on individual risk profiles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11824" y="1023119"/>
            <a:ext cx="394082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This System Matters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11824" y="1282601"/>
            <a:ext cx="3940820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ML-powered platform transforms diabetes care — shifting from late, reactive diagnosis to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early, proactive, data-driven prevention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11824" y="1675954"/>
            <a:ext cx="3940820" cy="721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Scalable to serve millions of patients globally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HIPAA-compliant, role-based security architecture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Cloud-ready for high availability and resilience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Empowers clinicians with intelligent decision support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1824" y="2494955"/>
            <a:ext cx="3940820" cy="526554"/>
          </a:xfrm>
          <a:prstGeom prst="roundRect">
            <a:avLst>
              <a:gd name="adj" fmla="val 8834"/>
            </a:avLst>
          </a:prstGeom>
          <a:solidFill>
            <a:srgbClr val="B6FCB8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2552" y="2646015"/>
            <a:ext cx="138410" cy="1107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071690" y="2600474"/>
            <a:ext cx="3470225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Early detection saves lives. Intelligent prediction makes it possible at scale.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2026-07-28T05:40:21Z</dcterms:created>
  <dcterms:modified xsi:type="dcterms:W3CDTF">2026-07-28T05:40:21Z</dcterms:modified>
</cp:coreProperties>
</file>